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296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6B3E612-2A99-E27C-1BA0-3BEDBC03C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7B0D3E-CB15-B278-531A-5AD0589CE7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75BA8-232F-4F5E-8B6C-77E6804E2B2F}" type="datetimeFigureOut">
              <a:rPr lang="es-EC" smtClean="0"/>
              <a:t>15/11/2025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8CFF5D-5101-A5C5-AD63-4799D942EB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84BB02-3C3C-3DC3-DFB7-4A7694499F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4F4A9-7700-44F8-B4BF-C9CDF780BC8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2764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4b830463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654b830463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4" name="Google Shape;144;g3654b830463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91AAEAB0-E00F-8C31-2EC0-3B5BA454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6F7A1E55-FEB6-DB76-D62A-B7C5825D0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5FDA1F65-02D5-11AB-7A82-4E442463D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698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C44EEB82-83DD-64A3-9354-C0662F85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0888380C-AE0A-CADE-D483-BBC1A739F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46F7322A-EC8D-309A-BDD6-A28A89388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267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54136FE9-0EF0-98AA-63A6-5D7C6B56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DDC09310-58E5-3650-C599-E99BC4D00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047035C8-F90A-A1F7-5F7B-AE55C3705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059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3E969BA0-FC48-627C-5004-0CE1F123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D5AE71B1-0395-E701-7CFF-97AAD148F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72DA6E19-71B3-ED3F-BA61-565A6CA0D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2767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9D9A3A8D-C6AC-038B-2133-89638254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4FD81A35-2092-3E8C-3F28-9A92A96B8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FD315782-9162-D40B-B821-6003E69A8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6536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F88ADCEE-71C6-88DE-9F60-84105833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916FFABC-0806-C55E-8CF4-EFCE16147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9E68AB39-8896-49F4-389C-7FEF2C7B4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6177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A94E1A3-5DEE-02B4-E5B2-9893C43A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87DCAF8E-060F-E884-C07D-2C021908A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C50A2C10-D903-CF97-D053-13DE18A519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84295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E78DEC50-A616-9967-0716-9B5A52C8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F22D9E4A-AF84-8388-63DA-370616921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CE3669CC-CB7B-4FF0-549A-518023AB0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688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81429AFA-9300-6BA5-6A96-33C4C96C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>
            <a:extLst>
              <a:ext uri="{FF2B5EF4-FFF2-40B4-BE49-F238E27FC236}">
                <a16:creationId xmlns:a16="http://schemas.microsoft.com/office/drawing/2014/main" id="{335ACDCD-3024-DDCE-96FB-EF5E7E33F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>
            <a:extLst>
              <a:ext uri="{FF2B5EF4-FFF2-40B4-BE49-F238E27FC236}">
                <a16:creationId xmlns:a16="http://schemas.microsoft.com/office/drawing/2014/main" id="{2B980C85-87CF-699A-DCE9-E5217051E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47630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rgbClr val="1C3E7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143000" y="1632832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"/>
              <a:buNone/>
              <a:defRPr sz="3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143000" y="2983814"/>
            <a:ext cx="6858000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61" name="Google Shape;61;p14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4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198931" y="4792024"/>
            <a:ext cx="24567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s-ES" dirty="0"/>
              <a:t>Sábado, 15 de Noviembre del 2025 </a:t>
            </a:r>
          </a:p>
          <a:p>
            <a:endParaRPr lang="es-ES" dirty="0"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" name="Google Shape;140;p20">
            <a:extLst>
              <a:ext uri="{FF2B5EF4-FFF2-40B4-BE49-F238E27FC236}">
                <a16:creationId xmlns:a16="http://schemas.microsoft.com/office/drawing/2014/main" id="{662B00E1-7A69-2120-DA1B-E1DCF49481D1}"/>
              </a:ext>
            </a:extLst>
          </p:cNvPr>
          <p:cNvSpPr txBox="1">
            <a:spLocks/>
          </p:cNvSpPr>
          <p:nvPr userDrawn="1"/>
        </p:nvSpPr>
        <p:spPr>
          <a:xfrm>
            <a:off x="1205677" y="4547685"/>
            <a:ext cx="24567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E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solidFill>
          <a:srgbClr val="F7F7F3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70" name="Google Shape;70;p15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37019" y="242317"/>
            <a:ext cx="8013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437019" y="1541190"/>
            <a:ext cx="8269961" cy="287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bg>
      <p:bgPr>
        <a:solidFill>
          <a:srgbClr val="F7F7F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95" name="Google Shape;95;p17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19435" y="1683056"/>
            <a:ext cx="4061162" cy="523814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7F7F3"/>
              </a:buClr>
              <a:buSzPts val="1500"/>
              <a:buNone/>
              <a:defRPr sz="15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437019" y="242317"/>
            <a:ext cx="8013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2"/>
          </p:nvPr>
        </p:nvSpPr>
        <p:spPr>
          <a:xfrm>
            <a:off x="415954" y="2424835"/>
            <a:ext cx="4064643" cy="195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3"/>
          </p:nvPr>
        </p:nvSpPr>
        <p:spPr>
          <a:xfrm>
            <a:off x="4601059" y="2424835"/>
            <a:ext cx="4279968" cy="195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4"/>
          </p:nvPr>
        </p:nvSpPr>
        <p:spPr>
          <a:xfrm>
            <a:off x="4601059" y="1676158"/>
            <a:ext cx="4308269" cy="523814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7F7F3"/>
              </a:buClr>
              <a:buSzPts val="1500"/>
              <a:buNone/>
              <a:defRPr sz="15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solidFill>
          <a:srgbClr val="F7F7F3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8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110" name="Google Shape;110;p18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628650" y="342900"/>
            <a:ext cx="2949178" cy="136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708155" y="351473"/>
            <a:ext cx="4618160" cy="4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2"/>
          </p:nvPr>
        </p:nvSpPr>
        <p:spPr>
          <a:xfrm>
            <a:off x="628651" y="1851865"/>
            <a:ext cx="2949178" cy="258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18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bg>
      <p:bgPr>
        <a:solidFill>
          <a:srgbClr val="F7F7F3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9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123" name="Google Shape;123;p19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9"/>
          <p:cNvSpPr>
            <a:spLocks noGrp="1"/>
          </p:cNvSpPr>
          <p:nvPr>
            <p:ph type="pic" idx="2"/>
          </p:nvPr>
        </p:nvSpPr>
        <p:spPr>
          <a:xfrm>
            <a:off x="4308231" y="817684"/>
            <a:ext cx="4135590" cy="32763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628650" y="342900"/>
            <a:ext cx="2949178" cy="136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628651" y="1851865"/>
            <a:ext cx="2949178" cy="258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8" name="Google Shape;128;p19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ctrTitle"/>
          </p:nvPr>
        </p:nvSpPr>
        <p:spPr>
          <a:xfrm>
            <a:off x="1143000" y="1061838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>
              <a:buSzPct val="100000"/>
            </a:pPr>
            <a:r>
              <a:rPr lang="es-EC" sz="5400" dirty="0"/>
              <a:t>Project SafeClaim</a:t>
            </a:r>
            <a:endParaRPr sz="5400" dirty="0"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1"/>
          </p:nvPr>
        </p:nvSpPr>
        <p:spPr>
          <a:xfrm>
            <a:off x="1754072" y="2814709"/>
            <a:ext cx="6858000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Altamirano Ortuño Ashley Adriana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Arboleda Viteri Priscila </a:t>
            </a:r>
            <a:r>
              <a:rPr lang="es-EC" dirty="0" err="1"/>
              <a:t>Mariuxi</a:t>
            </a:r>
            <a:endParaRPr lang="es-EC" dirty="0"/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Figueroa </a:t>
            </a:r>
            <a:r>
              <a:rPr lang="es-EC" dirty="0" err="1"/>
              <a:t>Benitez</a:t>
            </a:r>
            <a:r>
              <a:rPr lang="es-EC" dirty="0"/>
              <a:t> Frederick Leonardo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Gonzales Ochoa Jean Pierre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Ponte </a:t>
            </a:r>
            <a:r>
              <a:rPr lang="es-EC" dirty="0" err="1"/>
              <a:t>Guzhñay</a:t>
            </a:r>
            <a:r>
              <a:rPr lang="es-EC" dirty="0"/>
              <a:t> Elkin Emilio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endParaRPr lang="es-EC" dirty="0"/>
          </a:p>
        </p:txBody>
      </p:sp>
      <p:sp>
        <p:nvSpPr>
          <p:cNvPr id="140" name="Google Shape;140;p20"/>
          <p:cNvSpPr txBox="1">
            <a:spLocks noGrp="1"/>
          </p:cNvSpPr>
          <p:nvPr>
            <p:ph type="dt" idx="10"/>
          </p:nvPr>
        </p:nvSpPr>
        <p:spPr>
          <a:xfrm>
            <a:off x="198931" y="4792024"/>
            <a:ext cx="24567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dirty="0"/>
              <a:t>Sabado, 15 de Noviembre del 2025 </a:t>
            </a:r>
            <a:endParaRPr dirty="0"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  <p:sp>
        <p:nvSpPr>
          <p:cNvPr id="3" name="Google Shape;138;p20">
            <a:extLst>
              <a:ext uri="{FF2B5EF4-FFF2-40B4-BE49-F238E27FC236}">
                <a16:creationId xmlns:a16="http://schemas.microsoft.com/office/drawing/2014/main" id="{51857930-F785-7C44-4828-716C6E1DCD9D}"/>
              </a:ext>
            </a:extLst>
          </p:cNvPr>
          <p:cNvSpPr txBox="1">
            <a:spLocks/>
          </p:cNvSpPr>
          <p:nvPr/>
        </p:nvSpPr>
        <p:spPr>
          <a:xfrm>
            <a:off x="1295400" y="2243715"/>
            <a:ext cx="447322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"/>
              <a:buNone/>
              <a:defRPr sz="3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s-EC" sz="2400" b="0" dirty="0"/>
              <a:t>Integrantes:</a:t>
            </a:r>
            <a:endParaRPr lang="es-EC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F84328-C67E-117A-95F6-3D9EE4DB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General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1B4A40-153F-E079-49A1-FA9F423E7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251" y="2024832"/>
            <a:ext cx="8269961" cy="2196972"/>
          </a:xfrm>
        </p:spPr>
        <p:txBody>
          <a:bodyPr/>
          <a:lstStyle/>
          <a:p>
            <a:r>
              <a:rPr lang="es-ES" dirty="0"/>
              <a:t>El dataset analizado contiene </a:t>
            </a:r>
            <a:r>
              <a:rPr lang="es-ES" b="1" dirty="0"/>
              <a:t>15 420 registros</a:t>
            </a:r>
            <a:r>
              <a:rPr lang="es-ES" dirty="0"/>
              <a:t> y </a:t>
            </a:r>
            <a:r>
              <a:rPr lang="es-ES" b="1" dirty="0"/>
              <a:t>34 columnas</a:t>
            </a:r>
            <a:r>
              <a:rPr lang="es-ES" dirty="0"/>
              <a:t>.  </a:t>
            </a:r>
          </a:p>
          <a:p>
            <a:r>
              <a:rPr lang="es-ES" dirty="0"/>
              <a:t>Se identificó que está compuesto por:</a:t>
            </a:r>
          </a:p>
          <a:p>
            <a:pPr marL="139700" indent="0">
              <a:buNone/>
            </a:pPr>
            <a:r>
              <a:rPr lang="es-ES" dirty="0"/>
              <a:t>		 </a:t>
            </a:r>
            <a:r>
              <a:rPr lang="es-ES" b="1" dirty="0"/>
              <a:t>10 variables numéricas</a:t>
            </a:r>
            <a:r>
              <a:rPr lang="es-ES" dirty="0"/>
              <a:t> </a:t>
            </a:r>
          </a:p>
          <a:p>
            <a:pPr marL="139700" indent="0">
              <a:buNone/>
            </a:pPr>
            <a:r>
              <a:rPr lang="es-ES" b="1" dirty="0"/>
              <a:t>		 24 variables categóricas.</a:t>
            </a:r>
            <a:endParaRPr lang="es-ES" dirty="0"/>
          </a:p>
          <a:p>
            <a:pPr marL="139700" indent="0">
              <a:buNone/>
            </a:pP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C5ED5D-B330-35BC-EC11-095201B3E3B6}"/>
              </a:ext>
            </a:extLst>
          </p:cNvPr>
          <p:cNvSpPr txBox="1"/>
          <p:nvPr/>
        </p:nvSpPr>
        <p:spPr>
          <a:xfrm>
            <a:off x="1731150" y="1236489"/>
            <a:ext cx="6488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dk1"/>
                </a:solidFill>
                <a:latin typeface="Montserrat"/>
                <a:sym typeface="Montserrat"/>
              </a:rPr>
              <a:t>Análisis de reclamaciones de seguros para detectar patrones, comportamientos y posibles fraudes.</a:t>
            </a:r>
            <a:endParaRPr lang="es-EC" dirty="0">
              <a:solidFill>
                <a:schemeClr val="dk1"/>
              </a:solidFill>
              <a:latin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C74C20-1102-2C2B-5B0D-6E223A03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318121C-6263-4025-A8E2-930DCE23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86" y="-102365"/>
            <a:ext cx="8013265" cy="994172"/>
          </a:xfrm>
        </p:spPr>
        <p:txBody>
          <a:bodyPr/>
          <a:lstStyle/>
          <a:p>
            <a:r>
              <a:rPr lang="es-EC" dirty="0" err="1"/>
              <a:t>Insights</a:t>
            </a:r>
            <a:r>
              <a:rPr lang="es-EC" dirty="0"/>
              <a:t> encontrados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9C90623-A114-C1EF-4BB6-3067D7A1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96" y="1067569"/>
            <a:ext cx="5175848" cy="340414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4BC2FD3-676C-7211-8500-D533E414D837}"/>
              </a:ext>
            </a:extLst>
          </p:cNvPr>
          <p:cNvSpPr txBox="1"/>
          <p:nvPr/>
        </p:nvSpPr>
        <p:spPr>
          <a:xfrm>
            <a:off x="2775520" y="584030"/>
            <a:ext cx="5175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Distribución de la Edad del Asegurado</a:t>
            </a:r>
            <a:endParaRPr lang="es-EC" sz="2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9CD861-21FE-0422-2979-A08B81976AA8}"/>
              </a:ext>
            </a:extLst>
          </p:cNvPr>
          <p:cNvSpPr txBox="1"/>
          <p:nvPr/>
        </p:nvSpPr>
        <p:spPr>
          <a:xfrm>
            <a:off x="5476596" y="1578202"/>
            <a:ext cx="3362242" cy="21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Alta concentración entre </a:t>
            </a: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 y 50 años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Pico principal entre </a:t>
            </a: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 y 35 años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 proporción de adultos mayores.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Ningún registro infantil (coherente con seguros vehiculares).</a:t>
            </a:r>
          </a:p>
        </p:txBody>
      </p:sp>
    </p:spTree>
    <p:extLst>
      <p:ext uri="{BB962C8B-B14F-4D97-AF65-F5344CB8AC3E}">
        <p14:creationId xmlns:p14="http://schemas.microsoft.com/office/powerpoint/2010/main" val="245379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37E06B-D5EF-8511-9C3A-91011D64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27FA770-57BD-6D4F-A450-9E4E9B04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137" y="615554"/>
            <a:ext cx="5508056" cy="39380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CBC08F9-9A80-99CF-6C42-F23BE2724DA1}"/>
              </a:ext>
            </a:extLst>
          </p:cNvPr>
          <p:cNvSpPr txBox="1"/>
          <p:nvPr/>
        </p:nvSpPr>
        <p:spPr>
          <a:xfrm>
            <a:off x="2439551" y="189764"/>
            <a:ext cx="5175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>
                <a:effectLst/>
                <a:latin typeface="Times New Roman" panose="02020603050405020304" pitchFamily="18" charset="0"/>
                <a:ea typeface="Calibri" panose="020F0502020204030204" pitchFamily="34" charset="0"/>
              </a:defRPr>
            </a:lvl1pPr>
          </a:lstStyle>
          <a:p>
            <a:r>
              <a:rPr lang="es-EC" b="1" dirty="0"/>
              <a:t>Distribución del Precio del Vehículo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3A26A24-73E5-E723-0E7A-4AC959A38D7A}"/>
              </a:ext>
            </a:extLst>
          </p:cNvPr>
          <p:cNvSpPr txBox="1"/>
          <p:nvPr/>
        </p:nvSpPr>
        <p:spPr>
          <a:xfrm>
            <a:off x="131677" y="1050275"/>
            <a:ext cx="3189001" cy="30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vehículos de gama media</a:t>
            </a:r>
          </a:p>
          <a:p>
            <a:pPr lvl="0">
              <a:lnSpc>
                <a:spcPct val="200000"/>
              </a:lnSpc>
              <a:buSzPts val="1000"/>
              <a:tabLst>
                <a:tab pos="457200" algn="l"/>
              </a:tabLst>
            </a:pP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(20 000 a 39 000)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representan la mayor parte de reclamos.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Vehículos económicos </a:t>
            </a:r>
            <a:r>
              <a:rPr lang="es-EC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(&lt;20 000) 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tienen menor frecuencia.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Vehículos </a:t>
            </a:r>
            <a:r>
              <a:rPr 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caros</a:t>
            </a:r>
            <a:r>
              <a:rPr lang="es-EC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(&gt;69 000) 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muy poco comunes.</a:t>
            </a:r>
          </a:p>
        </p:txBody>
      </p:sp>
    </p:spTree>
    <p:extLst>
      <p:ext uri="{BB962C8B-B14F-4D97-AF65-F5344CB8AC3E}">
        <p14:creationId xmlns:p14="http://schemas.microsoft.com/office/powerpoint/2010/main" val="18766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8DFE5709-FE23-1043-3C3B-7087BB96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0CAD7B-3A2F-6113-47EC-0EF0418CD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380" y="463481"/>
            <a:ext cx="5716148" cy="331168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1718FE0-8DFF-19AB-146F-034F5A2BC265}"/>
              </a:ext>
            </a:extLst>
          </p:cNvPr>
          <p:cNvSpPr txBox="1"/>
          <p:nvPr/>
        </p:nvSpPr>
        <p:spPr>
          <a:xfrm>
            <a:off x="2798380" y="63371"/>
            <a:ext cx="5175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effectLst/>
                <a:latin typeface="Times New Roman" panose="02020603050405020304" pitchFamily="18" charset="0"/>
                <a:ea typeface="Calibri" panose="020F0502020204030204" pitchFamily="34" charset="0"/>
              </a:defRPr>
            </a:lvl1pPr>
          </a:lstStyle>
          <a:p>
            <a:r>
              <a:rPr lang="es-EC" dirty="0"/>
              <a:t>Distribución del Tipo de Póliza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2E579D-6284-D64A-E01D-E152CDB1D4C0}"/>
              </a:ext>
            </a:extLst>
          </p:cNvPr>
          <p:cNvSpPr txBox="1"/>
          <p:nvPr/>
        </p:nvSpPr>
        <p:spPr>
          <a:xfrm>
            <a:off x="301896" y="813292"/>
            <a:ext cx="5175848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200000"/>
              </a:lnSpc>
              <a:buNone/>
            </a:pPr>
            <a:endParaRPr lang="es-EC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buSzPts val="1000"/>
              <a:tabLst>
                <a:tab pos="457200" algn="l"/>
              </a:tabLst>
            </a:pPr>
            <a:r>
              <a:rPr 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gran mayoría de reclamos</a:t>
            </a:r>
          </a:p>
          <a:p>
            <a:pPr lvl="2">
              <a:lnSpc>
                <a:spcPct val="200000"/>
              </a:lnSpc>
              <a:buSzPts val="1000"/>
              <a:tabLst>
                <a:tab pos="457200" algn="l"/>
              </a:tabLst>
            </a:pPr>
            <a:r>
              <a:rPr 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pertenece a:</a:t>
            </a:r>
          </a:p>
          <a:p>
            <a:pPr marL="285750" lvl="2" indent="-285750">
              <a:lnSpc>
                <a:spcPct val="200000"/>
              </a:lnSpc>
              <a:buSzPct val="125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C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Sedan – Liability</a:t>
            </a:r>
            <a:endParaRPr lang="es-EC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2" indent="-285750">
              <a:lnSpc>
                <a:spcPct val="200000"/>
              </a:lnSpc>
              <a:buSzPct val="125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Sedan – Collision</a:t>
            </a:r>
            <a:endParaRPr lang="es-EC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buSzPct val="125000"/>
              <a:tabLst>
                <a:tab pos="457200" algn="l"/>
              </a:tabLst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0F0AD1-1CB2-BC92-D947-1FE9B188AFA4}"/>
              </a:ext>
            </a:extLst>
          </p:cNvPr>
          <p:cNvSpPr txBox="1"/>
          <p:nvPr/>
        </p:nvSpPr>
        <p:spPr>
          <a:xfrm>
            <a:off x="1087483" y="3913666"/>
            <a:ext cx="6782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Las pólizas deportivas y utilitarias representan porcentajes muy bajos, lo cual indica que el dataset está fuertemente dominado por vehículos tipo sedán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7221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7D5645-CFA6-281A-360F-A4282851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63F179C1-72FE-99E0-ABC5-D992EA6A8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87" y="718404"/>
            <a:ext cx="5179422" cy="372427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AF4DD6-8C0E-8CC9-B9E1-E7D4D4EC9FA5}"/>
              </a:ext>
            </a:extLst>
          </p:cNvPr>
          <p:cNvSpPr txBox="1"/>
          <p:nvPr/>
        </p:nvSpPr>
        <p:spPr>
          <a:xfrm>
            <a:off x="1397727" y="192420"/>
            <a:ext cx="67364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latin typeface="Times New Roman" panose="02020603050405020304" pitchFamily="18" charset="0"/>
                <a:ea typeface="Calibri" panose="020F0502020204030204" pitchFamily="34" charset="0"/>
              </a:defRPr>
            </a:lvl1pPr>
          </a:lstStyle>
          <a:p>
            <a:r>
              <a:rPr lang="es-EC" dirty="0"/>
              <a:t>Distribución de Recamos Fraudulentos vs No Fraudulentos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9D0DBD5-75E1-07A5-27AF-5B48EE97CFBD}"/>
              </a:ext>
            </a:extLst>
          </p:cNvPr>
          <p:cNvSpPr txBox="1"/>
          <p:nvPr/>
        </p:nvSpPr>
        <p:spPr>
          <a:xfrm>
            <a:off x="5642818" y="1057984"/>
            <a:ext cx="3161548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ts val="1000"/>
              <a:tabLst>
                <a:tab pos="457200" algn="l"/>
              </a:tabLst>
            </a:pPr>
            <a:r>
              <a:rPr 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distribución es altamente desbalanceada: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94.01%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los reclamos son </a:t>
            </a: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legítimos (0)</a:t>
            </a: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C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5.98%</a:t>
            </a: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fraudulentos (1)</a:t>
            </a:r>
            <a:endParaRPr lang="es-EC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7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6EC5F3-28B8-93A9-ECC8-099A3699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0383CC-6D65-74B7-EB51-711015F3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54" y="681119"/>
            <a:ext cx="5179422" cy="378126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41C6FD-5046-5754-5A1F-5C21B5A961B5}"/>
              </a:ext>
            </a:extLst>
          </p:cNvPr>
          <p:cNvSpPr txBox="1"/>
          <p:nvPr/>
        </p:nvSpPr>
        <p:spPr>
          <a:xfrm>
            <a:off x="111519" y="1247572"/>
            <a:ext cx="3323530" cy="21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lunes, viernes y miércoles concentran la mayor cantidad de reclamos</a:t>
            </a:r>
          </a:p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Mientras que el domingo es el día con menos siniestros reportados.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E67F8B-CDD9-9F87-0B53-68E7ABC69D65}"/>
              </a:ext>
            </a:extLst>
          </p:cNvPr>
          <p:cNvSpPr txBox="1"/>
          <p:nvPr/>
        </p:nvSpPr>
        <p:spPr>
          <a:xfrm>
            <a:off x="2001883" y="204369"/>
            <a:ext cx="6136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Distribución por Día de la Semana del Accidente</a:t>
            </a:r>
          </a:p>
        </p:txBody>
      </p:sp>
    </p:spTree>
    <p:extLst>
      <p:ext uri="{BB962C8B-B14F-4D97-AF65-F5344CB8AC3E}">
        <p14:creationId xmlns:p14="http://schemas.microsoft.com/office/powerpoint/2010/main" val="336680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1AE15F-C718-0E33-7A3F-CE993F9F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783144A-8B3B-AAC6-214D-D101E9444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148" y="616661"/>
            <a:ext cx="5515022" cy="391017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A22F6DA-A355-AEEB-75D8-06F5AA3DB37C}"/>
              </a:ext>
            </a:extLst>
          </p:cNvPr>
          <p:cNvSpPr txBox="1"/>
          <p:nvPr/>
        </p:nvSpPr>
        <p:spPr>
          <a:xfrm>
            <a:off x="300831" y="1050274"/>
            <a:ext cx="3027316" cy="30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mayoría de los autos asegurados tiene entre 6 y 7 años de antigüedad</a:t>
            </a:r>
          </a:p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Mientras que los vehículos nuevos y los de 2 a 4 años representan una proporción menor del total.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C27384-1B39-73F2-A178-C3FAB6934E51}"/>
              </a:ext>
            </a:extLst>
          </p:cNvPr>
          <p:cNvSpPr txBox="1"/>
          <p:nvPr/>
        </p:nvSpPr>
        <p:spPr>
          <a:xfrm>
            <a:off x="2446019" y="-128047"/>
            <a:ext cx="5179422" cy="614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s-EC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Distribución de la Edad del Vehículo</a:t>
            </a:r>
          </a:p>
        </p:txBody>
      </p:sp>
    </p:spTree>
    <p:extLst>
      <p:ext uri="{BB962C8B-B14F-4D97-AF65-F5344CB8AC3E}">
        <p14:creationId xmlns:p14="http://schemas.microsoft.com/office/powerpoint/2010/main" val="169044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DA17CE14-F1D5-E5DD-2DDA-38B5F6E5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49723E-FFA5-0EAB-CCC3-82A8B2741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37" y="642296"/>
            <a:ext cx="5128718" cy="38589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8CE0A15-3BAB-F5B9-DE9A-68F481C94731}"/>
              </a:ext>
            </a:extLst>
          </p:cNvPr>
          <p:cNvSpPr txBox="1"/>
          <p:nvPr/>
        </p:nvSpPr>
        <p:spPr>
          <a:xfrm>
            <a:off x="5601475" y="1050275"/>
            <a:ext cx="3323788" cy="30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mayoría de los asegurados tiene entre 2 y 4 reclamos anteriores</a:t>
            </a:r>
            <a:endParaRPr lang="es-EC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porcentaje importante no registra reclamos previos (0)</a:t>
            </a:r>
          </a:p>
          <a:p>
            <a:pPr marL="34290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Mientras que </a:t>
            </a:r>
            <a:r>
              <a:rPr lang="es-EC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asegurados con más de 4 reclamos conforman un grupo minoritario</a:t>
            </a:r>
            <a:endParaRPr lang="es-EC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25F454-ABE0-CEC5-5640-3B41587E37AD}"/>
              </a:ext>
            </a:extLst>
          </p:cNvPr>
          <p:cNvSpPr txBox="1"/>
          <p:nvPr/>
        </p:nvSpPr>
        <p:spPr>
          <a:xfrm>
            <a:off x="2367642" y="153089"/>
            <a:ext cx="51794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Distribución del Número de Reclamos Previos</a:t>
            </a:r>
          </a:p>
        </p:txBody>
      </p:sp>
    </p:spTree>
    <p:extLst>
      <p:ext uri="{BB962C8B-B14F-4D97-AF65-F5344CB8AC3E}">
        <p14:creationId xmlns:p14="http://schemas.microsoft.com/office/powerpoint/2010/main" val="341788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936B2EC-A5E3-AE0C-EE43-81CC3949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D7EB69C-4F4B-7A83-C0ED-BD4369008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36" y="705292"/>
            <a:ext cx="5025681" cy="373291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0DB1CBB-A19B-D81E-6A27-299D492B1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17" y="925145"/>
            <a:ext cx="364101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latinLnBrk="0" hangingPunct="0">
              <a:lnSpc>
                <a:spcPct val="200000"/>
              </a:lnSpc>
              <a:buSzTx/>
              <a:buFont typeface="Symbol" panose="05050102010706020507" pitchFamily="18" charset="2"/>
              <a:buChar char=""/>
              <a:tabLst/>
            </a:pP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ausencia de verificación es el factor principal asociado a la incidencia de fraude</a:t>
            </a:r>
          </a:p>
          <a:p>
            <a:pPr marL="342900" indent="-342900" defTabSz="914400" eaLnBrk="0" fontAlgn="base" latinLnBrk="0" hangingPunct="0">
              <a:lnSpc>
                <a:spcPct val="200000"/>
              </a:lnSpc>
              <a:buSzTx/>
              <a:buFont typeface="Symbol" panose="05050102010706020507" pitchFamily="18" charset="2"/>
              <a:buChar char=""/>
              <a:tabLst/>
            </a:pP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fraude se concentra mayoritariamente en reclamos sin testigos </a:t>
            </a:r>
            <a:r>
              <a:rPr lang="es-EC" altLang="es-EC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(99.44%) </a:t>
            </a: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sin informe policial </a:t>
            </a:r>
            <a:r>
              <a:rPr lang="es-EC" altLang="es-EC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(97.22%)</a:t>
            </a:r>
          </a:p>
          <a:p>
            <a:pPr marL="342900" indent="-342900" defTabSz="914400" eaLnBrk="0" fontAlgn="base" latinLnBrk="0" hangingPunct="0">
              <a:lnSpc>
                <a:spcPct val="200000"/>
              </a:lnSpc>
              <a:buSzTx/>
              <a:buFont typeface="Symbol" panose="05050102010706020507" pitchFamily="18" charset="2"/>
              <a:buChar char=""/>
              <a:tabLst/>
            </a:pP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Mientras que los casos con elementos de prueba representan una fracción mínima.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0AEC54-7CC7-3280-C590-991034EFE5FB}"/>
              </a:ext>
            </a:extLst>
          </p:cNvPr>
          <p:cNvSpPr txBox="1"/>
          <p:nvPr/>
        </p:nvSpPr>
        <p:spPr>
          <a:xfrm>
            <a:off x="1464673" y="-18714"/>
            <a:ext cx="7468688" cy="614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s-EC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Distribución del Fraude (%) en Condiciones de Verificación</a:t>
            </a:r>
          </a:p>
        </p:txBody>
      </p:sp>
    </p:spTree>
    <p:extLst>
      <p:ext uri="{BB962C8B-B14F-4D97-AF65-F5344CB8AC3E}">
        <p14:creationId xmlns:p14="http://schemas.microsoft.com/office/powerpoint/2010/main" val="64664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62071A-B0B8-BB65-E8A4-6BFA85515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EF6011-1386-EB24-7362-E23FE859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Conclusiones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C2C4678-646D-ECAB-4299-82E182861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347183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406</Words>
  <Application>Microsoft Office PowerPoint</Application>
  <PresentationFormat>Presentación en pantalla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Times New Roman</vt:lpstr>
      <vt:lpstr>Montserrat</vt:lpstr>
      <vt:lpstr>Arial</vt:lpstr>
      <vt:lpstr>Play</vt:lpstr>
      <vt:lpstr>Symbol</vt:lpstr>
      <vt:lpstr>Simple Light</vt:lpstr>
      <vt:lpstr>Tema de Office</vt:lpstr>
      <vt:lpstr>Project SafeClaim</vt:lpstr>
      <vt:lpstr>Descripción General</vt:lpstr>
      <vt:lpstr>Insights encontrados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Javier Gutiérrez</dc:creator>
  <cp:lastModifiedBy>Ashley Adriana Altamirano Ortuño</cp:lastModifiedBy>
  <cp:revision>3</cp:revision>
  <dcterms:modified xsi:type="dcterms:W3CDTF">2025-11-15T05:58:58Z</dcterms:modified>
</cp:coreProperties>
</file>